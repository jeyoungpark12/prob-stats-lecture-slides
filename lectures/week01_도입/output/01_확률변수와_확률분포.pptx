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오늘은 확률분포 단원의 첫 시간으로, 확률변수와 확률분포를 다룹니다. 동전과 주사위처럼 우연한 결과를 숫자로 바꾸어 다루는 것이 오늘의 주제입니다.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8초 인트로 영상. 동전 → 주사위 → 막대그래프 → 종 모양 곡선. '던질 때마다 결과는 달라도, 많이 모으면 모양이 생긴다'는 질문으로 시작해 주세요. [영상: 슬라이드가 열리면 자동 재생, 소리 있음]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오늘의 목표는 세 가지입니다. 확률변수가 무엇인지, 이산확률변수의 분포를 표와 그래프로 나타내는 법, 그리고 연속확률변수에서는 확률을 왜 넓이로 구하는지입니다.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은행 번호표를 떠올려 보세요. 손님이 누구든 번호 하나를 받습니다. 확률변수도 시행 결과가 무엇이든 숫자 하나를 붙여 주는 규칙입니다.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(앞, 뒤)와 (뒤, 앞)이 모두 1로 모이는 점을 강조. 그래서 X=1의 확률이 가장 큼. [영상: 클릭하면 재생]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결과가 모두 1/4씩이므로 X=1은 1/2. 막대를 이어 붙이면 길이가 정확히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피자 조각 크기는 제각각이어도 모두 모으면 정확히 한 판. 확률도 모두 더하면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계단은 정해진 높이에만, 경사로는 어느 높이에서든 멈출 수 있음. 앞이 이산, 뒤가 연속.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공이 계단은 한 칸씩, 경사로는 미끄러지듯 올라감. [영상: 클릭하면 재생]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확률은 넓이. 3분~7분은 4 × 1/10 = 0.4. 한 점은 넓이 0. (대기 시간 수치는 예시)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공장에서 불량품이 몇 개 나오는지는 셀 수 있으니 이산, 센서가 재는 신호는 끊김 없이 변하니 연속. 다음 장의 표로 정리합니다.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불량품 개수는 이산, 센서 오차·부품 수명은 연속. '몇 개냐, 얼마나냐'로 구분.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정답. Q1: 이산. Q2: 1/8, 3/8, 3/8, 1/8. Q3: 폭 4 × 높이 k = 1 이므로 k = 1/4.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microsoft.com/office/2007/relationships/media" Target="../media/media3.mp4"/><Relationship Id="rId4" Type="http://schemas.openxmlformats.org/officeDocument/2006/relationships/video" Target="../media/media3.mp4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jpg"/><Relationship Id="rId4" Type="http://schemas.microsoft.com/office/2007/relationships/media" Target="../media/media5.mp4"/><Relationship Id="rId5" Type="http://schemas.openxmlformats.org/officeDocument/2006/relationships/video" Target="../media/media5.mp4"/><Relationship Id="rId6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jpg"/><Relationship Id="rId4" Type="http://schemas.openxmlformats.org/officeDocument/2006/relationships/image" Target="../media/image1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i_cover.jpg"/>
          <p:cNvPicPr>
            <a:picLocks noChangeAspect="1"/>
          </p:cNvPicPr>
          <p:nvPr/>
        </p:nvPicPr>
        <p:blipFill>
          <a:blip r:embed="rId3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737360"/>
            <a:ext cx="5943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2A65A"/>
                </a:solidFill>
                <a:latin typeface="Malgun Gothic"/>
                <a:ea typeface="Malgun Gothic"/>
                <a:cs typeface="Malgun Gothic"/>
              </a:rPr>
              <a:t>Ⅲ. 통계 · 1. 확률분포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5943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6000" b="1">
                <a:solidFill>
                  <a:srgbClr val="F7F6F2"/>
                </a:solidFill>
                <a:latin typeface="Malgun Gothic"/>
                <a:ea typeface="Malgun Gothic"/>
                <a:cs typeface="Malgun Gothic"/>
              </a:rPr>
              <a:t>확률변수와</a:t>
            </a:r>
          </a:p>
          <a:p>
            <a:pPr algn="l">
              <a:lnSpc>
                <a:spcPct val="105000"/>
              </a:lnSpc>
            </a:pPr>
            <a:r>
              <a:rPr sz="6000" b="1">
                <a:solidFill>
                  <a:srgbClr val="F7F6F2"/>
                </a:solidFill>
                <a:latin typeface="Malgun Gothic"/>
                <a:ea typeface="Malgun Gothic"/>
                <a:cs typeface="Malgun Gothic"/>
              </a:rPr>
              <a:t>확률분포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43400"/>
            <a:ext cx="594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>
                <a:solidFill>
                  <a:srgbClr val="C9D3E6"/>
                </a:solidFill>
                <a:latin typeface="Malgun Gothic"/>
                <a:ea typeface="Malgun Gothic"/>
                <a:cs typeface="Malgun Gothic"/>
              </a:rPr>
              <a:t>우연한 결과를 숫자로 바꾸는 방법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8C2"/>
                </a:solidFill>
                <a:latin typeface="Malgun Gothic"/>
                <a:ea typeface="Malgun Gothic"/>
                <a:cs typeface="Malgun Gothic"/>
              </a:rPr>
              <a:t>확률과 통계 · 공학계열 1학년 · 이미지: Google Flow(Nano Banana 2.1)로 생성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ntro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8C2"/>
                </a:solidFill>
                <a:latin typeface="Malgun Gothic"/>
                <a:ea typeface="Malgun Gothic"/>
                <a:cs typeface="Malgun Gothic"/>
              </a:rPr>
              <a:t>영상: Google Flow(Veo 3.1 Lite)로 생성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1F2A44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352044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3520440" cy="109728"/>
          </a:xfrm>
          <a:prstGeom prst="rect">
            <a:avLst/>
          </a:prstGeom>
          <a:solidFill>
            <a:srgbClr val="2F6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2F6FDB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44"/>
                </a:solidFill>
                <a:latin typeface="Malgun Gothic"/>
                <a:ea typeface="Malgun Gothic"/>
                <a:cs typeface="Malgun Gothic"/>
              </a:rPr>
              <a:t>확률변수의 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74720"/>
            <a:ext cx="28346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시행 결과에 실수를 대응시키는 규칙의 이해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554480"/>
            <a:ext cx="352044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79" y="1554480"/>
            <a:ext cx="3520440" cy="109728"/>
          </a:xfrm>
          <a:prstGeom prst="rect">
            <a:avLst/>
          </a:prstGeom>
          <a:solidFill>
            <a:srgbClr val="2F6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92024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2F6FDB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74320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44"/>
                </a:solidFill>
                <a:latin typeface="Malgun Gothic"/>
                <a:ea typeface="Malgun Gothic"/>
                <a:cs typeface="Malgun Gothic"/>
              </a:rPr>
              <a:t>이산확률변수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474720"/>
            <a:ext cx="28346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확률분포를 표와 그래프, 확률질량함수로 표현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554480"/>
            <a:ext cx="352044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19" y="1554480"/>
            <a:ext cx="3520440" cy="109728"/>
          </a:xfrm>
          <a:prstGeom prst="rect">
            <a:avLst/>
          </a:prstGeom>
          <a:solidFill>
            <a:srgbClr val="C86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92024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C8691E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4320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44"/>
                </a:solidFill>
                <a:latin typeface="Malgun Gothic"/>
                <a:ea typeface="Malgun Gothic"/>
                <a:cs typeface="Malgun Gothic"/>
              </a:rPr>
              <a:t>연속확률변수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474720"/>
            <a:ext cx="28346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확률밀도함수와 넓이로 구하는 확률의 의미 파악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A7489"/>
                </a:solidFill>
                <a:latin typeface="Malgun Gothic"/>
                <a:ea typeface="Malgun Gothic"/>
                <a:cs typeface="Malgun Gothic"/>
              </a:rPr>
              <a:t>교과서 Ⅲ-1 확률분포 · 확률변수와 확률분포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1F2A44"/>
                </a:solidFill>
                <a:latin typeface="Malgun Gothic"/>
                <a:ea typeface="Malgun Gothic"/>
                <a:cs typeface="Malgun Gothic"/>
              </a:rPr>
              <a:t>비유로 시작: 은행 번호표</a:t>
            </a:r>
          </a:p>
        </p:txBody>
      </p:sp>
      <p:pic>
        <p:nvPicPr>
          <p:cNvPr id="3" name="Picture 2" descr="ticket.jpg"/>
          <p:cNvPicPr>
            <a:picLocks noChangeAspect="1"/>
          </p:cNvPicPr>
          <p:nvPr/>
        </p:nvPicPr>
        <p:blipFill>
          <a:blip r:embed="rId3"/>
          <a:srcRect t="7609" b="7609"/>
          <a:stretch>
            <a:fillRect/>
          </a:stretch>
        </p:blipFill>
        <p:spPr>
          <a:xfrm>
            <a:off x="548640" y="1371600"/>
            <a:ext cx="4206240" cy="47548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212080" y="1463040"/>
            <a:ext cx="64008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12080" y="1463040"/>
            <a:ext cx="109728" cy="1280160"/>
          </a:xfrm>
          <a:prstGeom prst="rect">
            <a:avLst/>
          </a:prstGeom>
          <a:solidFill>
            <a:srgbClr val="6A74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0" y="1645920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6A7489"/>
                </a:solidFill>
                <a:latin typeface="Malgun Gothic"/>
                <a:ea typeface="Malgun Gothic"/>
                <a:cs typeface="Malgun Gothic"/>
              </a:rPr>
              <a:t>은행 번호표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2148840"/>
            <a:ext cx="576072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1F2A44"/>
                </a:solidFill>
                <a:latin typeface="Malgun Gothic"/>
                <a:ea typeface="Malgun Gothic"/>
                <a:cs typeface="Malgun Gothic"/>
              </a:rPr>
              <a:t>손님마다 번호 하나 발행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12080" y="2971800"/>
            <a:ext cx="64008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212080" y="2971800"/>
            <a:ext cx="109728" cy="1280160"/>
          </a:xfrm>
          <a:prstGeom prst="rect">
            <a:avLst/>
          </a:prstGeom>
          <a:solidFill>
            <a:srgbClr val="2F6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3154680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F6FDB"/>
                </a:solidFill>
                <a:latin typeface="Malgun Gothic"/>
                <a:ea typeface="Malgun Gothic"/>
                <a:cs typeface="Malgun Gothic"/>
              </a:rPr>
              <a:t>확률변수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3657600"/>
            <a:ext cx="576072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1F2A44"/>
                </a:solidFill>
                <a:latin typeface="Malgun Gothic"/>
                <a:ea typeface="Malgun Gothic"/>
                <a:cs typeface="Malgun Gothic"/>
              </a:rPr>
              <a:t>시행 결과마다 실수 하나 대응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4617720"/>
            <a:ext cx="6400800" cy="1280160"/>
          </a:xfrm>
          <a:prstGeom prst="roundRect">
            <a:avLst>
              <a:gd name="adj" fmla="val 8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4617720"/>
            <a:ext cx="5852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7F6F2"/>
                </a:solidFill>
                <a:latin typeface="Malgun Gothic"/>
                <a:ea typeface="Malgun Gothic"/>
                <a:cs typeface="Malgun Gothic"/>
              </a:rPr>
              <a:t>결과에 숫자를 붙이는 규칙</a:t>
            </a:r>
          </a:p>
          <a:p>
            <a:pPr algn="l">
              <a:lnSpc>
                <a:spcPct val="115000"/>
              </a:lnSpc>
            </a:pPr>
            <a:r>
              <a:rPr sz="2400" b="1">
                <a:solidFill>
                  <a:srgbClr val="F2A65A"/>
                </a:solidFill>
                <a:latin typeface="Malgun Gothic"/>
                <a:ea typeface="Malgun Gothic"/>
                <a:cs typeface="Malgun Gothic"/>
              </a:rPr>
              <a:t>= 확률변수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A7489"/>
                </a:solidFill>
                <a:latin typeface="Malgun Gothic"/>
                <a:ea typeface="Malgun Gothic"/>
                <a:cs typeface="Malgun Gothic"/>
              </a:rPr>
              <a:t>사진: AKAMGO yalms, CC BY-SA 4.0, Wikimedia Commons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1F2A44"/>
                </a:solidFill>
                <a:latin typeface="Malgun Gothic"/>
                <a:ea typeface="Malgun Gothic"/>
                <a:cs typeface="Malgun Gothic"/>
              </a:rPr>
              <a:t>확률변수: 결과에 숫자를 붙이는 규칙</a:t>
            </a:r>
          </a:p>
        </p:txBody>
      </p:sp>
      <p:pic>
        <p:nvPicPr>
          <p:cNvPr id="3" name="RandomVariabl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527048" y="1234440"/>
            <a:ext cx="9144000" cy="5143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A7489"/>
                </a:solidFill>
                <a:latin typeface="Malgun Gothic"/>
                <a:ea typeface="Malgun Gothic"/>
                <a:cs typeface="Malgun Gothic"/>
              </a:rPr>
              <a:t>예: 동전 한 개를 두 번 던지는 시행 · 영상 클릭 시 재생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1F2A44"/>
                </a:solidFill>
                <a:latin typeface="Malgun Gothic"/>
                <a:ea typeface="Malgun Gothic"/>
                <a:cs typeface="Malgun Gothic"/>
              </a:rPr>
              <a:t>이산확률변수의 확률분포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1F2A44"/>
                </a:solidFill>
                <a:latin typeface="Malgun Gothic"/>
                <a:ea typeface="Malgun Gothic"/>
                <a:cs typeface="Malgun Gothic"/>
              </a:rPr>
              <a:t>값을 </a:t>
            </a:r>
            <a:r>
              <a:rPr sz="2200" b="1">
                <a:solidFill>
                  <a:srgbClr val="2F6FDB"/>
                </a:solidFill>
                <a:latin typeface="Malgun Gothic"/>
                <a:ea typeface="Malgun Gothic"/>
                <a:cs typeface="Malgun Gothic"/>
              </a:rPr>
              <a:t>셀 수 있는</a:t>
            </a:r>
            <a:r>
              <a:rPr sz="2200" b="0">
                <a:solidFill>
                  <a:srgbClr val="1F2A44"/>
                </a:solidFill>
                <a:latin typeface="Malgun Gothic"/>
                <a:ea typeface="Malgun Gothic"/>
                <a:cs typeface="Malgun Gothic"/>
              </a:rPr>
              <a:t> 확률변수</a:t>
            </a:r>
          </a:p>
          <a:p>
            <a:pPr algn="l">
              <a:lnSpc>
                <a:spcPct val="115000"/>
              </a:lnSpc>
            </a:pPr>
            <a:r>
              <a:rPr sz="2200" b="1">
                <a:solidFill>
                  <a:srgbClr val="1F2A44"/>
                </a:solidFill>
                <a:latin typeface="Malgun Gothic"/>
                <a:ea typeface="Malgun Gothic"/>
                <a:cs typeface="Malgun Gothic"/>
              </a:rPr>
              <a:t>→ 이산확률변수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651760"/>
          <a:ext cx="493776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914400"/>
                <a:gridCol w="914400"/>
                <a:gridCol w="914400"/>
                <a:gridCol w="91440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7F6F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X</a:t>
                      </a:r>
                    </a:p>
                  </a:txBody>
                  <a:tcPr anchor="ctr" marL="13716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7F6F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anchor="ctr" marL="13716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7F6F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anchor="ctr" marL="13716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7F6F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anchor="ctr" marL="13716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7F6F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합계</a:t>
                      </a:r>
                    </a:p>
                  </a:txBody>
                  <a:tcPr anchor="ctr" marL="137160">
                    <a:solidFill>
                      <a:srgbClr val="1F2A4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F2A4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P(X=x)</a:t>
                      </a:r>
                    </a:p>
                  </a:txBody>
                  <a:tcPr anchor="ctr" marL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F2A4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1/4</a:t>
                      </a:r>
                    </a:p>
                  </a:txBody>
                  <a:tcPr anchor="ctr" marL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F2A4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1/2</a:t>
                      </a:r>
                    </a:p>
                  </a:txBody>
                  <a:tcPr anchor="ctr" marL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F2A4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1/4</a:t>
                      </a:r>
                    </a:p>
                  </a:txBody>
                  <a:tcPr anchor="ctr" marL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F2A4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anchor="ctr" marL="1371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2062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6FDB"/>
                </a:solidFill>
                <a:latin typeface="Malgun Gothic"/>
                <a:ea typeface="Malgun Gothic"/>
                <a:cs typeface="Malgun Gothic"/>
              </a:rPr>
              <a:t>P(X = xᵢ) = pᵢ</a:t>
            </a:r>
          </a:p>
          <a:p>
            <a:pPr algn="l">
              <a:lnSpc>
                <a:spcPct val="115000"/>
              </a:lnSpc>
            </a:pPr>
            <a:r>
              <a:rPr sz="2200" b="0">
                <a:solidFill>
                  <a:srgbClr val="1F2A44"/>
                </a:solidFill>
                <a:latin typeface="Malgun Gothic"/>
                <a:ea typeface="Malgun Gothic"/>
                <a:cs typeface="Malgun Gothic"/>
              </a:rPr>
              <a:t>확률질량함수</a:t>
            </a:r>
          </a:p>
        </p:txBody>
      </p:sp>
      <p:pic>
        <p:nvPicPr>
          <p:cNvPr id="6" name="PMFBar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852160" y="1463040"/>
            <a:ext cx="5788152" cy="32552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52160" y="4892040"/>
            <a:ext cx="5788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6A7489"/>
                </a:solidFill>
                <a:latin typeface="Malgun Gothic"/>
                <a:ea typeface="Malgun Gothic"/>
                <a:cs typeface="Malgun Gothic"/>
              </a:rPr>
              <a:t>막대를 이어 붙이면 합계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A7489"/>
                </a:solidFill>
                <a:latin typeface="Malgun Gothic"/>
                <a:ea typeface="Malgun Gothic"/>
                <a:cs typeface="Malgun Gothic"/>
              </a:rPr>
              <a:t>동전 두 번 던지기: 앞면이 나온 횟수 X의 확률분포 · 영상 클릭 시 재생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1F2A44"/>
                </a:solidFill>
                <a:latin typeface="Malgun Gothic"/>
                <a:ea typeface="Malgun Gothic"/>
                <a:cs typeface="Malgun Gothic"/>
              </a:rPr>
              <a:t>확률질량함수의 두 가지 성질</a:t>
            </a:r>
          </a:p>
        </p:txBody>
      </p:sp>
      <p:pic>
        <p:nvPicPr>
          <p:cNvPr id="3" name="Picture 2" descr="pizza.jpg"/>
          <p:cNvPicPr>
            <a:picLocks noChangeAspect="1"/>
          </p:cNvPicPr>
          <p:nvPr/>
        </p:nvPicPr>
        <p:blipFill>
          <a:blip r:embed="rId3"/>
          <a:srcRect t="7609" b="7609"/>
          <a:stretch>
            <a:fillRect/>
          </a:stretch>
        </p:blipFill>
        <p:spPr>
          <a:xfrm>
            <a:off x="548640" y="1371600"/>
            <a:ext cx="4206240" cy="47548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212080" y="1371600"/>
            <a:ext cx="64008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12080" y="1371600"/>
            <a:ext cx="109728" cy="1600200"/>
          </a:xfrm>
          <a:prstGeom prst="rect">
            <a:avLst/>
          </a:prstGeom>
          <a:solidFill>
            <a:srgbClr val="2F6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0" y="1554480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F6FDB"/>
                </a:solidFill>
                <a:latin typeface="Malgun Gothic"/>
                <a:ea typeface="Malgun Gothic"/>
                <a:cs typeface="Malgun Gothic"/>
              </a:rPr>
              <a:t>성질 1 · 각 확률은 0 이상 1 이하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1965960"/>
            <a:ext cx="57607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1F2A44"/>
                </a:solidFill>
                <a:latin typeface="Malgun Gothic"/>
                <a:ea typeface="Malgun Gothic"/>
                <a:cs typeface="Malgun Gothic"/>
              </a:rPr>
              <a:t>0 ≤ pᵢ ≤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12080" y="3154680"/>
            <a:ext cx="64008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212080" y="3154680"/>
            <a:ext cx="109728" cy="1600200"/>
          </a:xfrm>
          <a:prstGeom prst="rect">
            <a:avLst/>
          </a:prstGeom>
          <a:solidFill>
            <a:srgbClr val="C86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3337560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C8691E"/>
                </a:solidFill>
                <a:latin typeface="Malgun Gothic"/>
                <a:ea typeface="Malgun Gothic"/>
                <a:cs typeface="Malgun Gothic"/>
              </a:rPr>
              <a:t>성질 2 · 모든 확률의 합은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3749040"/>
            <a:ext cx="57607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1F2A44"/>
                </a:solidFill>
                <a:latin typeface="Malgun Gothic"/>
                <a:ea typeface="Malgun Gothic"/>
                <a:cs typeface="Malgun Gothic"/>
              </a:rPr>
              <a:t>p₁ + p₂ + ⋯ + pₙ =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5029200"/>
            <a:ext cx="6400800" cy="1097280"/>
          </a:xfrm>
          <a:prstGeom prst="roundRect">
            <a:avLst>
              <a:gd name="adj" fmla="val 8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5029200"/>
            <a:ext cx="58521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2A65A"/>
                </a:solidFill>
                <a:latin typeface="Malgun Gothic"/>
                <a:ea typeface="Malgun Gothic"/>
                <a:cs typeface="Malgun Gothic"/>
              </a:rPr>
              <a:t>비유: </a:t>
            </a:r>
            <a:r>
              <a:rPr sz="2200" b="1">
                <a:solidFill>
                  <a:srgbClr val="F7F6F2"/>
                </a:solidFill>
                <a:latin typeface="Malgun Gothic"/>
                <a:ea typeface="Malgun Gothic"/>
                <a:cs typeface="Malgun Gothic"/>
              </a:rPr>
              <a:t>조각을 모두 모으면 피자 한 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A7489"/>
                </a:solidFill>
                <a:latin typeface="Malgun Gothic"/>
                <a:ea typeface="Malgun Gothic"/>
                <a:cs typeface="Malgun Gothic"/>
              </a:rPr>
              <a:t>사진: Agoetee 123, CC BY-SA 4.0, Wikimedia Commons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1F2A44"/>
                </a:solidFill>
                <a:latin typeface="Malgun Gothic"/>
                <a:ea typeface="Malgun Gothic"/>
                <a:cs typeface="Malgun Gothic"/>
              </a:rPr>
              <a:t>비유: 계단과 경사로</a:t>
            </a:r>
          </a:p>
        </p:txBody>
      </p:sp>
      <p:pic>
        <p:nvPicPr>
          <p:cNvPr id="3" name="Picture 2" descr="stairs.jpg"/>
          <p:cNvPicPr>
            <a:picLocks noChangeAspect="1"/>
          </p:cNvPicPr>
          <p:nvPr/>
        </p:nvPicPr>
        <p:blipFill>
          <a:blip r:embed="rId3"/>
          <a:srcRect l="7452" r="7452"/>
          <a:stretch>
            <a:fillRect/>
          </a:stretch>
        </p:blipFill>
        <p:spPr>
          <a:xfrm>
            <a:off x="548640" y="1280160"/>
            <a:ext cx="5394960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983480"/>
            <a:ext cx="5394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2F6FDB"/>
                </a:solidFill>
                <a:latin typeface="Malgun Gothic"/>
                <a:ea typeface="Malgun Gothic"/>
                <a:cs typeface="Malgun Gothic"/>
              </a:rPr>
              <a:t>이산 = 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53212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정해진 높이에만 멈춤, 중간 값 없음</a:t>
            </a:r>
          </a:p>
        </p:txBody>
      </p:sp>
      <p:pic>
        <p:nvPicPr>
          <p:cNvPr id="6" name="Picture 5" descr="ramp.jpg"/>
          <p:cNvPicPr>
            <a:picLocks noChangeAspect="1"/>
          </p:cNvPicPr>
          <p:nvPr/>
        </p:nvPicPr>
        <p:blipFill>
          <a:blip r:embed="rId4"/>
          <a:srcRect t="424" b="424"/>
          <a:stretch>
            <a:fillRect/>
          </a:stretch>
        </p:blipFill>
        <p:spPr>
          <a:xfrm>
            <a:off x="6217920" y="1280160"/>
            <a:ext cx="5394960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983480"/>
            <a:ext cx="5394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C8691E"/>
                </a:solidFill>
                <a:latin typeface="Malgun Gothic"/>
                <a:ea typeface="Malgun Gothic"/>
                <a:cs typeface="Malgun Gothic"/>
              </a:rPr>
              <a:t>연속 = 경사로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553212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어느 높이에서든 멈춤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A7489"/>
                </a:solidFill>
                <a:latin typeface="Malgun Gothic"/>
                <a:ea typeface="Malgun Gothic"/>
                <a:cs typeface="Malgun Gothic"/>
              </a:rPr>
              <a:t>사진: Basile Morin, CC BY-SA 4.0, Wikimedia Commons / 사진: PattayaPatrol, CC BY-SA 4.0, Wikimedia Commons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1F2A44"/>
                </a:solidFill>
                <a:latin typeface="Malgun Gothic"/>
                <a:ea typeface="Malgun Gothic"/>
                <a:cs typeface="Malgun Gothic"/>
              </a:rPr>
              <a:t>이산 vs 연속: 끊긴 값과 이어진 값</a:t>
            </a:r>
          </a:p>
        </p:txBody>
      </p:sp>
      <p:pic>
        <p:nvPicPr>
          <p:cNvPr id="3" name="StairsVsRamp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527048" y="1234440"/>
            <a:ext cx="9144000" cy="5143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A7489"/>
                </a:solidFill>
                <a:latin typeface="Malgun Gothic"/>
                <a:ea typeface="Malgun Gothic"/>
                <a:cs typeface="Malgun Gothic"/>
              </a:rPr>
              <a:t>영상 클릭 시 재생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1F2A44"/>
                </a:solidFill>
                <a:latin typeface="Malgun Gothic"/>
                <a:ea typeface="Malgun Gothic"/>
                <a:cs typeface="Malgun Gothic"/>
              </a:rPr>
              <a:t>연속확률변수: 확률 = 그래프 아래 넓이</a:t>
            </a:r>
          </a:p>
        </p:txBody>
      </p:sp>
      <p:pic>
        <p:nvPicPr>
          <p:cNvPr id="3" name="Picture 2" descr="subway.jpg"/>
          <p:cNvPicPr>
            <a:picLocks noChangeAspect="1"/>
          </p:cNvPicPr>
          <p:nvPr/>
        </p:nvPicPr>
        <p:blipFill>
          <a:blip r:embed="rId3"/>
          <a:srcRect l="23485" r="23485"/>
          <a:stretch>
            <a:fillRect/>
          </a:stretch>
        </p:blipFill>
        <p:spPr>
          <a:xfrm>
            <a:off x="548640" y="1280160"/>
            <a:ext cx="3200400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C8691E"/>
                </a:solidFill>
                <a:latin typeface="Malgun Gothic"/>
                <a:ea typeface="Malgun Gothic"/>
                <a:cs typeface="Malgun Gothic"/>
              </a:rPr>
              <a:t>예: 10분 간격 지하철</a:t>
            </a: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1F2A44"/>
                </a:solidFill>
                <a:latin typeface="Malgun Gothic"/>
                <a:ea typeface="Malgun Gothic"/>
                <a:cs typeface="Malgun Gothic"/>
              </a:rPr>
              <a:t>기다리는 시간 X</a:t>
            </a:r>
          </a:p>
        </p:txBody>
      </p:sp>
      <p:pic>
        <p:nvPicPr>
          <p:cNvPr id="5" name="DensityArea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4114800" y="1280160"/>
            <a:ext cx="7525512" cy="42336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0" y="5669280"/>
            <a:ext cx="237744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566928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F2A44"/>
                </a:solidFill>
                <a:latin typeface="Malgun Gothic"/>
                <a:ea typeface="Malgun Gothic"/>
                <a:cs typeface="Malgun Gothic"/>
              </a:rPr>
              <a:t>f(x) ≥ 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5669280"/>
            <a:ext cx="237744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566928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F2A44"/>
                </a:solidFill>
                <a:latin typeface="Malgun Gothic"/>
                <a:ea typeface="Malgun Gothic"/>
                <a:cs typeface="Malgun Gothic"/>
              </a:rPr>
              <a:t>전체 넓이 =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0" y="5669280"/>
            <a:ext cx="237744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0" y="566928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F2A44"/>
                </a:solidFill>
                <a:latin typeface="Malgun Gothic"/>
                <a:ea typeface="Malgun Gothic"/>
                <a:cs typeface="Malgun Gothic"/>
              </a:rPr>
              <a:t>P(X = a) =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A7489"/>
                </a:solidFill>
                <a:latin typeface="Malgun Gothic"/>
                <a:ea typeface="Malgun Gothic"/>
                <a:cs typeface="Malgun Gothic"/>
              </a:rPr>
              <a:t>사진: LandAndTree, CC BY-SA 4.0, Wikimedia Commons · 영상 클릭 시 재생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1F2A44"/>
                </a:solidFill>
                <a:latin typeface="Malgun Gothic"/>
                <a:ea typeface="Malgun Gothic"/>
                <a:cs typeface="Malgun Gothic"/>
              </a:rPr>
              <a:t>공학 현장의 이산과 연속</a:t>
            </a:r>
          </a:p>
        </p:txBody>
      </p:sp>
      <p:pic>
        <p:nvPicPr>
          <p:cNvPr id="3" name="Picture 2" descr="ai_factory.jpg"/>
          <p:cNvPicPr>
            <a:picLocks noChangeAspect="1"/>
          </p:cNvPicPr>
          <p:nvPr/>
        </p:nvPicPr>
        <p:blipFill>
          <a:blip r:embed="rId3"/>
          <a:srcRect l="7782" r="7782"/>
          <a:stretch>
            <a:fillRect/>
          </a:stretch>
        </p:blipFill>
        <p:spPr>
          <a:xfrm>
            <a:off x="548640" y="1280160"/>
            <a:ext cx="5394960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983480"/>
            <a:ext cx="5394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2F6FDB"/>
                </a:solidFill>
                <a:latin typeface="Malgun Gothic"/>
                <a:ea typeface="Malgun Gothic"/>
                <a:cs typeface="Malgun Gothic"/>
              </a:rPr>
              <a:t>이산: 불량품 개수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53212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0개, 1개, 2개… 셀 수 있는 값</a:t>
            </a:r>
          </a:p>
        </p:txBody>
      </p:sp>
      <p:pic>
        <p:nvPicPr>
          <p:cNvPr id="6" name="Picture 5" descr="ai_sensor.jpg"/>
          <p:cNvPicPr>
            <a:picLocks noChangeAspect="1"/>
          </p:cNvPicPr>
          <p:nvPr/>
        </p:nvPicPr>
        <p:blipFill>
          <a:blip r:embed="rId4"/>
          <a:srcRect l="7782" r="7782"/>
          <a:stretch>
            <a:fillRect/>
          </a:stretch>
        </p:blipFill>
        <p:spPr>
          <a:xfrm>
            <a:off x="6217920" y="1280160"/>
            <a:ext cx="5394960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983480"/>
            <a:ext cx="5394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C8691E"/>
                </a:solidFill>
                <a:latin typeface="Malgun Gothic"/>
                <a:ea typeface="Malgun Gothic"/>
                <a:cs typeface="Malgun Gothic"/>
              </a:rPr>
              <a:t>연속: 센서 신호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553212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온도·전압처럼 끊김 없이 변하는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A7489"/>
                </a:solidFill>
                <a:latin typeface="Malgun Gothic"/>
                <a:ea typeface="Malgun Gothic"/>
                <a:cs typeface="Malgun Gothic"/>
              </a:rPr>
              <a:t>이미지: Google Flow(Nano Banana 2.1)로 생성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1F2A44"/>
                </a:solidFill>
                <a:latin typeface="Malgun Gothic"/>
                <a:ea typeface="Malgun Gothic"/>
                <a:cs typeface="Malgun Gothic"/>
              </a:rPr>
              <a:t>이산 vs 연속: 공학 현장의 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389120"/>
                <a:gridCol w="4389120"/>
              </a:tblGrid>
              <a:tr h="841248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7F6F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구분</a:t>
                      </a:r>
                    </a:p>
                  </a:txBody>
                  <a:tcPr anchor="ctr" marL="2286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7F6F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이산확률변수 (계단)</a:t>
                      </a:r>
                    </a:p>
                  </a:txBody>
                  <a:tcPr anchor="ctr" marL="228600">
                    <a:solidFill>
                      <a:srgbClr val="2F6FD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2A4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연속확률변수 (경사로)</a:t>
                      </a:r>
                    </a:p>
                  </a:txBody>
                  <a:tcPr anchor="ctr" marL="228600">
                    <a:solidFill>
                      <a:srgbClr val="F2A65A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취하는 값</a:t>
                      </a:r>
                    </a:p>
                  </a:txBody>
                  <a:tcPr anchor="ctr" marL="22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셀 수 있는 값</a:t>
                      </a:r>
                    </a:p>
                  </a:txBody>
                  <a:tcPr anchor="ctr" marL="22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구간 안의 모든 실수</a:t>
                      </a:r>
                    </a:p>
                  </a:txBody>
                  <a:tcPr anchor="ctr" marL="228600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분포 표현</a:t>
                      </a:r>
                    </a:p>
                  </a:txBody>
                  <a:tcPr anchor="ctr" marL="228600">
                    <a:solidFill>
                      <a:srgbClr val="F1F0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확률질량함수 P(X = x)</a:t>
                      </a:r>
                    </a:p>
                  </a:txBody>
                  <a:tcPr anchor="ctr" marL="228600">
                    <a:solidFill>
                      <a:srgbClr val="F1F0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확률밀도함수 f(x)</a:t>
                      </a:r>
                    </a:p>
                  </a:txBody>
                  <a:tcPr anchor="ctr" marL="228600">
                    <a:solidFill>
                      <a:srgbClr val="F1F0EB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확률 계산</a:t>
                      </a:r>
                    </a:p>
                  </a:txBody>
                  <a:tcPr anchor="ctr" marL="22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확률의 합</a:t>
                      </a:r>
                    </a:p>
                  </a:txBody>
                  <a:tcPr anchor="ctr" marL="22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그래프 아래 넓이</a:t>
                      </a:r>
                    </a:p>
                  </a:txBody>
                  <a:tcPr anchor="ctr" marL="228600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공학 예시</a:t>
                      </a:r>
                    </a:p>
                  </a:txBody>
                  <a:tcPr anchor="ctr" marL="228600">
                    <a:solidFill>
                      <a:srgbClr val="F1F0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불량품 개수, 패킷 손실 수</a:t>
                      </a:r>
                    </a:p>
                  </a:txBody>
                  <a:tcPr anchor="ctr" marL="228600">
                    <a:solidFill>
                      <a:srgbClr val="F1F0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센서 측정 오차, 부품 수명</a:t>
                      </a:r>
                    </a:p>
                  </a:txBody>
                  <a:tcPr anchor="ctr" marL="228600">
                    <a:solidFill>
                      <a:srgbClr val="F1F0E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A7489"/>
                </a:solidFill>
                <a:latin typeface="Malgun Gothic"/>
                <a:ea typeface="Malgun Gothic"/>
                <a:cs typeface="Malgun Gothic"/>
              </a:rPr>
              <a:t>판단 기준: "몇 개?"면 이산, "얼마나?"면 연속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7F6F2"/>
                </a:solidFill>
                <a:latin typeface="Malgun Gothic"/>
                <a:ea typeface="Malgun Gothic"/>
                <a:cs typeface="Malgun Gothic"/>
              </a:rPr>
              <a:t>요약과 확인 퀴즈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2A65A"/>
                </a:solidFill>
                <a:latin typeface="Malgun Gothic"/>
                <a:ea typeface="Malgun Gothic"/>
                <a:cs typeface="Malgun Gothic"/>
              </a:rPr>
              <a:t>오늘의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45720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2200" b="0">
                <a:solidFill>
                  <a:srgbClr val="F7F6F2"/>
                </a:solidFill>
                <a:latin typeface="Malgun Gothic"/>
                <a:ea typeface="Malgun Gothic"/>
                <a:cs typeface="Malgun Gothic"/>
              </a:rPr>
              <a:t>확률변수: 결과 → 실수의 대응</a:t>
            </a:r>
          </a:p>
          <a:p>
            <a:pPr algn="l">
              <a:lnSpc>
                <a:spcPct val="190000"/>
              </a:lnSpc>
            </a:pPr>
            <a:r>
              <a:rPr sz="2200" b="0">
                <a:solidFill>
                  <a:srgbClr val="F7F6F2"/>
                </a:solidFill>
                <a:latin typeface="Malgun Gothic"/>
                <a:ea typeface="Malgun Gothic"/>
                <a:cs typeface="Malgun Gothic"/>
              </a:rPr>
              <a:t>이산: 확률질량함수, 합 = 1</a:t>
            </a:r>
          </a:p>
          <a:p>
            <a:pPr algn="l">
              <a:lnSpc>
                <a:spcPct val="190000"/>
              </a:lnSpc>
            </a:pPr>
            <a:r>
              <a:rPr sz="2200" b="0">
                <a:solidFill>
                  <a:srgbClr val="F7F6F2"/>
                </a:solidFill>
                <a:latin typeface="Malgun Gothic"/>
                <a:ea typeface="Malgun Gothic"/>
                <a:cs typeface="Malgun Gothic"/>
              </a:rPr>
              <a:t>연속: 확률밀도함수, 넓이 = 확률</a:t>
            </a:r>
          </a:p>
        </p:txBody>
      </p:sp>
      <p:pic>
        <p:nvPicPr>
          <p:cNvPr id="5" name="Picture 4" descr="ai_student.jpg"/>
          <p:cNvPicPr>
            <a:picLocks noChangeAspect="1"/>
          </p:cNvPicPr>
          <p:nvPr/>
        </p:nvPicPr>
        <p:blipFill>
          <a:blip r:embed="rId3"/>
          <a:srcRect t="9103" b="9103"/>
          <a:stretch>
            <a:fillRect/>
          </a:stretch>
        </p:blipFill>
        <p:spPr>
          <a:xfrm>
            <a:off x="548640" y="4206240"/>
            <a:ext cx="4206240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371600"/>
            <a:ext cx="5943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2A65A"/>
                </a:solidFill>
                <a:latin typeface="Malgun Gothic"/>
                <a:ea typeface="Malgun Gothic"/>
                <a:cs typeface="Malgun Gothic"/>
              </a:rPr>
              <a:t>퀴즈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920240"/>
            <a:ext cx="5943600" cy="1234440"/>
          </a:xfrm>
          <a:prstGeom prst="roundRect">
            <a:avLst>
              <a:gd name="adj" fmla="val 8000"/>
            </a:avLst>
          </a:prstGeom>
          <a:solidFill>
            <a:srgbClr val="2A3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920240"/>
            <a:ext cx="53949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F7F6F2"/>
                </a:solidFill>
                <a:latin typeface="Malgun Gothic"/>
                <a:ea typeface="Malgun Gothic"/>
                <a:cs typeface="Malgun Gothic"/>
              </a:rPr>
              <a:t>Q1. 주사위 한 개의 눈 X: 이산 또는 연속 판단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3337560"/>
            <a:ext cx="5943600" cy="1234440"/>
          </a:xfrm>
          <a:prstGeom prst="roundRect">
            <a:avLst>
              <a:gd name="adj" fmla="val 8000"/>
            </a:avLst>
          </a:prstGeom>
          <a:solidFill>
            <a:srgbClr val="2A3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0" y="3337560"/>
            <a:ext cx="53949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F7F6F2"/>
                </a:solidFill>
                <a:latin typeface="Malgun Gothic"/>
                <a:ea typeface="Malgun Gothic"/>
                <a:cs typeface="Malgun Gothic"/>
              </a:rPr>
              <a:t>Q2. 동전 세 개를 던질 때 앞면의 개수 X의 확률분포표 작성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4754880"/>
            <a:ext cx="5943600" cy="1234440"/>
          </a:xfrm>
          <a:prstGeom prst="roundRect">
            <a:avLst>
              <a:gd name="adj" fmla="val 8000"/>
            </a:avLst>
          </a:prstGeom>
          <a:solidFill>
            <a:srgbClr val="2A3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4754880"/>
            <a:ext cx="53949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F7F6F2"/>
                </a:solidFill>
                <a:latin typeface="Malgun Gothic"/>
                <a:ea typeface="Malgun Gothic"/>
                <a:cs typeface="Malgun Gothic"/>
              </a:rPr>
              <a:t>Q3. 0 ≤ X ≤ 4, f(x) = k (상수)일 때 k의 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8C2"/>
                </a:solidFill>
                <a:latin typeface="Malgun Gothic"/>
                <a:ea typeface="Malgun Gothic"/>
                <a:cs typeface="Malgun Gothic"/>
              </a:rPr>
              <a:t>이미지: Google Flow(Nano Banana 2.1)로 생성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