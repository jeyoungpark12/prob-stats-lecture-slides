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확률분포 단원의 첫 시간으로, 확률변수와 확률분포를 다룹니다. 오른쪽 막대 세 개는 오늘 계속 등장할 '동전 두 번 던지기'의 확률분포 모양입니다.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목표는 세 가지입니다. 확률변수가 무엇인지, 이산확률변수의 분포를 표와 그래프로 나타내는 법, 그리고 연속확률변수에서는 확률을 왜 넓이로 구하는지입니다.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확률변수를 처음 들으면 '변수'라는 말 때문에 어렵게 느낍니다. 은행 번호표를 떠올려 보세요. 손님이 누구든 번호 하나를 받습니다. 확률변수도 같습니다. 시행 결과가 무엇이든 숫자 하나를 붙여 주는 규칙입니다.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동전을 두 번 던지면 결과는 네 가지입니다. '앞면이 몇 번 나왔나'라는 규칙으로 각 결과가 0, 1, 2라는 숫자로 바뀝니다. (앞, 뒤)와 (뒤, 앞)이 모두 1로 모이는 점을 강조해 주세요. 그래서 X=1의 확률이 가장 큽니다. [영상: 클릭하면 재생]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 장의 대응을 확률로 정리하면 표와 같습니다. 네 결과가 모두 1/4씩이므로 X=1은 1/2입니다. 영상에서 막대를 눕혀 이어 붙이면 길이가 정확히 1이 됩니다. 이처럼 각 값에 확률을 대응시킨 함수가 확률질량함수입니다.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확률질량함수의 두 성질입니다. 피자 한 판을 떠올려 보세요. 조각 크기는 제각각이어도 모두 모으면 정확히 한 판입니다. 확률도 마찬가지로 모두 더하면 1입니다. 미지수 k를 구하는 문제는 대부분 이 성질을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이산과 연속의 차이를 계단과 경사로로 비유합니다. 계단에서는 1층, 2층처럼 정해진 높이에만 설 수 있고 1.5층에는 설 수 없습니다. 경사로에서는 어느 높이에서든 멈출 수 있습니다. 앞의 것이 이산, 뒤의 것이 연속입니다.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공이 계단에서는 한 칸씩 뛰어오르고, 경사로에서는 미끄러지듯 올라갑니다. 이산확률변수는 0, 1, 2…처럼 뚝뚝 끊긴 값을, 연속확률변수는 구간 안의 모든 실수를 가집니다. [영상: 클릭하면 재생]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대기 시간처럼 끝없이 잘게 나눌 수 있는 값은 셀 수 없으므로, 막대 대신 함수 그래프를 그리고 확률은 넓이로 구합니다. 높이 1/10, 폭 10이니 전체 넓이가 1입니다. 3분에서 7분 사이는 4 × 1/10 = 0.4. 구간을 한 점으로 줄이면 넓이가 0이므로 P(X=a)=0입니다. (대기 시간 수치는 예시이므로 교과서 수치로 바꿔 쓰셔도 됩니다.)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종류를 나란히 비교합니다. 공학에서는 둘 다 자주 나옵니다. 불량품 개수는 이산, 센서가 재는 온도의 오차나 부품 수명은 연속입니다. '몇 개냐, 얼마나냐'로 구분하게 하면 쉽게 기억합니다.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정답. Q1: 이산 (1부터 6까지 셀 수 있음). Q2: X = 0, 1, 2, 3 의 확률이 각각 1/8, 3/8, 3/8, 1/8. Q3: 폭 4 × 높이 k = 1 이므로 k = 1/4.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microsoft.com/office/2007/relationships/media" Target="../media/media4.mp4"/><Relationship Id="rId5" Type="http://schemas.openxmlformats.org/officeDocument/2006/relationships/video" Target="../media/media4.mp4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52560" y="4480560"/>
            <a:ext cx="685800" cy="1280160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3200400"/>
            <a:ext cx="685800" cy="25603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4480560"/>
            <a:ext cx="685800" cy="1280160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A65A"/>
                </a:solidFill>
                <a:latin typeface="Malgun Gothic"/>
                <a:ea typeface="Malgun Gothic"/>
                <a:cs typeface="Malgun Gothic"/>
              </a:rPr>
              <a:t>Ⅲ. 통계 · 1. 확률분포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772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확률변수와</a:t>
            </a:r>
          </a:p>
          <a:p>
            <a:pPr algn="l">
              <a:lnSpc>
                <a:spcPct val="105000"/>
              </a:lnSpc>
            </a:pPr>
            <a:r>
              <a:rPr sz="6000" b="1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확률분포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C9D3E6"/>
                </a:solidFill>
                <a:latin typeface="Malgun Gothic"/>
                <a:ea typeface="Malgun Gothic"/>
                <a:cs typeface="Malgun Gothic"/>
              </a:rPr>
              <a:t>우연한 결과를 숫자로 바꾸는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8C2"/>
                </a:solidFill>
                <a:latin typeface="Malgun Gothic"/>
                <a:ea typeface="Malgun Gothic"/>
                <a:cs typeface="Malgun Gothic"/>
              </a:rPr>
              <a:t>확률과 통계 · 공학계열 1학년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520440" cy="109728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확률변수의 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시행 결과에 실수를 대응시키는 규칙의 이해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5448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79" y="1554480"/>
            <a:ext cx="3520440" cy="109728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이산확률변수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확률분포를 표와 그래프, 확률질량함수로 표현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554480"/>
            <a:ext cx="3520440" cy="109728"/>
          </a:xfrm>
          <a:prstGeom prst="rect">
            <a:avLst/>
          </a:prstGeom>
          <a:solidFill>
            <a:srgbClr val="C8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8691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연속확률변수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확률밀도함수와 넓이로 구하는 확률의 의미 파악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교과서 Ⅲ-1 확률분포 · 확률변수와 확률분포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비유로 시작: 은행 번호표</a:t>
            </a:r>
          </a:p>
        </p:txBody>
      </p:sp>
      <p:pic>
        <p:nvPicPr>
          <p:cNvPr id="3" name="Picture 2" descr="ticket.jpg"/>
          <p:cNvPicPr>
            <a:picLocks noChangeAspect="1"/>
          </p:cNvPicPr>
          <p:nvPr/>
        </p:nvPicPr>
        <p:blipFill>
          <a:blip r:embed="rId3"/>
          <a:srcRect t="7609" b="7609"/>
          <a:stretch>
            <a:fillRect/>
          </a:stretch>
        </p:blipFill>
        <p:spPr>
          <a:xfrm>
            <a:off x="548640" y="1371600"/>
            <a:ext cx="420624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12080" y="146304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0" y="1463040"/>
            <a:ext cx="109728" cy="1280160"/>
          </a:xfrm>
          <a:prstGeom prst="rect">
            <a:avLst/>
          </a:prstGeom>
          <a:solidFill>
            <a:srgbClr val="6A7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6459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은행 번호표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103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손님마다 번호 하나 발행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97180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2971800"/>
            <a:ext cx="109728" cy="1280160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1546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확률변수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6118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시행 결과마다 실수 하나 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61772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461772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결과에 숫자를 붙이는 규칙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2A65A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2400" b="1">
                <a:solidFill>
                  <a:srgbClr val="F2A65A"/>
                </a:solidFill>
                <a:latin typeface="Malgun Gothic"/>
                <a:ea typeface="Malgun Gothic"/>
                <a:cs typeface="Malgun Gothic"/>
              </a:rPr>
              <a:t>확률변수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사진: AKAMGO yalms, CC BY-SA 4.0,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확률변수: 결과에 숫자를 붙이는 규칙</a:t>
            </a:r>
          </a:p>
        </p:txBody>
      </p:sp>
      <p:pic>
        <p:nvPicPr>
          <p:cNvPr id="3" name="RandomVariab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7048" y="123444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예: 동전 한 개를 두 번 던지는 시행 · 영상 클릭 시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이산확률변수의 확률분포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값을 </a:t>
            </a:r>
            <a:r>
              <a:rPr sz="22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셀 수 있는</a:t>
            </a:r>
            <a:r>
              <a:rPr sz="22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 확률변수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→ 이산확률변수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651760"/>
          <a:ext cx="49377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914400"/>
                <a:gridCol w="9144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7F6F2"/>
                          </a:solidFill>
                          <a:latin typeface="Malgun Gothic"/>
                        </a:rPr>
                        <a:t>X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7F6F2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7F6F2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7F6F2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7F6F2"/>
                          </a:solidFill>
                          <a:latin typeface="Malgun Gothic"/>
                        </a:rPr>
                        <a:t>합계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P(X=x)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1/4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1/2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1/4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P(X = xᵢ) = pᵢ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확률질량함수</a:t>
            </a:r>
          </a:p>
        </p:txBody>
      </p:sp>
      <p:pic>
        <p:nvPicPr>
          <p:cNvPr id="6" name="PMFBar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2160" y="1463040"/>
            <a:ext cx="5788152" cy="3255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4892040"/>
            <a:ext cx="5788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막대를 이어 붙이면 합계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동전 두 번 던지기: 앞면이 나온 횟수 X의 확률분포 · 영상 클릭 시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확률질량함수의 두 가지 성질</a:t>
            </a:r>
          </a:p>
        </p:txBody>
      </p:sp>
      <p:pic>
        <p:nvPicPr>
          <p:cNvPr id="3" name="Picture 2" descr="pizza.jpg"/>
          <p:cNvPicPr>
            <a:picLocks noChangeAspect="1"/>
          </p:cNvPicPr>
          <p:nvPr/>
        </p:nvPicPr>
        <p:blipFill>
          <a:blip r:embed="rId3"/>
          <a:srcRect t="7609" b="7609"/>
          <a:stretch>
            <a:fillRect/>
          </a:stretch>
        </p:blipFill>
        <p:spPr>
          <a:xfrm>
            <a:off x="548640" y="1371600"/>
            <a:ext cx="4206240" cy="47548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12080" y="1371600"/>
            <a:ext cx="6400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0" y="1371600"/>
            <a:ext cx="109728" cy="1600200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5087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성질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874519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0 ≤ pᵢ ≤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4688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각 확률은 0 이상 1 이하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154680"/>
            <a:ext cx="6400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3154680"/>
            <a:ext cx="109728" cy="1600200"/>
          </a:xfrm>
          <a:prstGeom prst="rect">
            <a:avLst/>
          </a:prstGeom>
          <a:solidFill>
            <a:srgbClr val="C8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2918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8691E"/>
                </a:solidFill>
                <a:latin typeface="Malgun Gothic"/>
                <a:ea typeface="Malgun Gothic"/>
                <a:cs typeface="Malgun Gothic"/>
              </a:rPr>
              <a:t>성질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p₁ + p₂ + ⋯ + pₙ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42519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모든 확률의 합은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502920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5029200"/>
            <a:ext cx="5852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2A65A"/>
                </a:solidFill>
                <a:latin typeface="Malgun Gothic"/>
                <a:ea typeface="Malgun Gothic"/>
                <a:cs typeface="Malgun Gothic"/>
              </a:rPr>
              <a:t>비유: </a:t>
            </a:r>
            <a:r>
              <a:rPr sz="2200" b="1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조각을 모두 모으면 피자 한 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사진: Agoetee 123, CC BY-SA 4.0, Wikimedia Commons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비유: 계단과 경사로</a:t>
            </a:r>
          </a:p>
        </p:txBody>
      </p:sp>
      <p:pic>
        <p:nvPicPr>
          <p:cNvPr id="3" name="Picture 2" descr="stairs.jpg"/>
          <p:cNvPicPr>
            <a:picLocks noChangeAspect="1"/>
          </p:cNvPicPr>
          <p:nvPr/>
        </p:nvPicPr>
        <p:blipFill>
          <a:blip r:embed="rId3"/>
          <a:srcRect l="7452" r="7452"/>
          <a:stretch>
            <a:fillRect/>
          </a:stretch>
        </p:blipFill>
        <p:spPr>
          <a:xfrm>
            <a:off x="548640" y="1280160"/>
            <a:ext cx="539496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83480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이산 = 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32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정해진 높이에만 멈춤, 중간 값 없음</a:t>
            </a:r>
          </a:p>
        </p:txBody>
      </p:sp>
      <p:pic>
        <p:nvPicPr>
          <p:cNvPr id="6" name="Picture 5" descr="ramp.jpg"/>
          <p:cNvPicPr>
            <a:picLocks noChangeAspect="1"/>
          </p:cNvPicPr>
          <p:nvPr/>
        </p:nvPicPr>
        <p:blipFill>
          <a:blip r:embed="rId4"/>
          <a:srcRect t="424" b="424"/>
          <a:stretch>
            <a:fillRect/>
          </a:stretch>
        </p:blipFill>
        <p:spPr>
          <a:xfrm>
            <a:off x="6217920" y="1280160"/>
            <a:ext cx="539496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983480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8691E"/>
                </a:solidFill>
                <a:latin typeface="Malgun Gothic"/>
                <a:ea typeface="Malgun Gothic"/>
                <a:cs typeface="Malgun Gothic"/>
              </a:rPr>
              <a:t>연속 = 경사로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532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어느 높이에서든 멈춤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사진: Basile Morin, CC BY-SA 4.0, Wikimedia Commons / 사진: PattayaPatrol, CC BY-SA 4.0, Wikimedia Commons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이산 vs 연속: 끊긴 값과 이어진 값</a:t>
            </a:r>
          </a:p>
        </p:txBody>
      </p:sp>
      <p:pic>
        <p:nvPicPr>
          <p:cNvPr id="3" name="StairsVsRam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7048" y="123444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영상 클릭 시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연속확률변수: 확률 = 그래프 아래 넓이</a:t>
            </a:r>
          </a:p>
        </p:txBody>
      </p:sp>
      <p:pic>
        <p:nvPicPr>
          <p:cNvPr id="3" name="Picture 2" descr="subway.jpg"/>
          <p:cNvPicPr>
            <a:picLocks noChangeAspect="1"/>
          </p:cNvPicPr>
          <p:nvPr/>
        </p:nvPicPr>
        <p:blipFill>
          <a:blip r:embed="rId3"/>
          <a:srcRect l="23485" r="23485"/>
          <a:stretch>
            <a:fillRect/>
          </a:stretch>
        </p:blipFill>
        <p:spPr>
          <a:xfrm>
            <a:off x="548640" y="1280160"/>
            <a:ext cx="32004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406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8691E"/>
                </a:solidFill>
                <a:latin typeface="Malgun Gothic"/>
                <a:ea typeface="Malgun Gothic"/>
                <a:cs typeface="Malgun Gothic"/>
              </a:rPr>
              <a:t>예: 10분 간격 지하철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기다리는 시간 X</a:t>
            </a:r>
          </a:p>
        </p:txBody>
      </p:sp>
      <p:pic>
        <p:nvPicPr>
          <p:cNvPr id="5" name="DensityArea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14800" y="1280160"/>
            <a:ext cx="7525512" cy="42336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566928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566928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f(x) ≥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566928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566928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전체 넓이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566928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566928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P(X = a)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사진: LandAndTree, CC BY-SA 4.0, Wikimedia Commons · 영상 클릭 시 재생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2A44"/>
                </a:solidFill>
                <a:latin typeface="Malgun Gothic"/>
                <a:ea typeface="Malgun Gothic"/>
                <a:cs typeface="Malgun Gothic"/>
              </a:rPr>
              <a:t>이산 vs 연속: 공학 현장의 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84124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7F6F2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2286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7F6F2"/>
                          </a:solidFill>
                          <a:latin typeface="Malgun Gothic"/>
                        </a:rPr>
                        <a:t>이산확률변수 (계단)</a:t>
                      </a:r>
                    </a:p>
                  </a:txBody>
                  <a:tcPr anchor="ctr" marL="228600">
                    <a:solidFill>
                      <a:srgbClr val="2F6F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2A44"/>
                          </a:solidFill>
                          <a:latin typeface="Malgun Gothic"/>
                        </a:rPr>
                        <a:t>연속확률변수 (경사로)</a:t>
                      </a:r>
                    </a:p>
                  </a:txBody>
                  <a:tcPr anchor="ctr" marL="228600">
                    <a:solidFill>
                      <a:srgbClr val="F2A65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Malgun Gothic"/>
                        </a:rPr>
                        <a:t>취하는 값</a:t>
                      </a:r>
                    </a:p>
                  </a:txBody>
                  <a:tcPr anchor="ctr" marL="22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셀 수 있는 값</a:t>
                      </a:r>
                    </a:p>
                  </a:txBody>
                  <a:tcPr anchor="ctr" marL="22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구간 안의 모든 실수</a:t>
                      </a:r>
                    </a:p>
                  </a:txBody>
                  <a:tcPr anchor="ctr" marL="2286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Malgun Gothic"/>
                        </a:rPr>
                        <a:t>분포 표현</a:t>
                      </a:r>
                    </a:p>
                  </a:txBody>
                  <a:tcPr anchor="ctr" marL="2286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확률질량함수 P(X = x)</a:t>
                      </a:r>
                    </a:p>
                  </a:txBody>
                  <a:tcPr anchor="ctr" marL="2286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확률밀도함수 f(x)</a:t>
                      </a:r>
                    </a:p>
                  </a:txBody>
                  <a:tcPr anchor="ctr" marL="228600">
                    <a:solidFill>
                      <a:srgbClr val="F1F0E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Malgun Gothic"/>
                        </a:rPr>
                        <a:t>확률 계산</a:t>
                      </a:r>
                    </a:p>
                  </a:txBody>
                  <a:tcPr anchor="ctr" marL="22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확률의 합</a:t>
                      </a:r>
                    </a:p>
                  </a:txBody>
                  <a:tcPr anchor="ctr" marL="22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그래프 아래 넓이</a:t>
                      </a:r>
                    </a:p>
                  </a:txBody>
                  <a:tcPr anchor="ctr" marL="2286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Malgun Gothic"/>
                        </a:rPr>
                        <a:t>공학 예시</a:t>
                      </a:r>
                    </a:p>
                  </a:txBody>
                  <a:tcPr anchor="ctr" marL="2286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불량품 개수, 패킷 손실 수</a:t>
                      </a:r>
                    </a:p>
                  </a:txBody>
                  <a:tcPr anchor="ctr" marL="228600">
                    <a:solidFill>
                      <a:srgbClr val="F1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Malgun Gothic"/>
                        </a:rPr>
                        <a:t>센서 측정 오차, 부품 수명</a:t>
                      </a:r>
                    </a:p>
                  </a:txBody>
                  <a:tcPr anchor="ctr" marL="2286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A7489"/>
                </a:solidFill>
                <a:latin typeface="Malgun Gothic"/>
                <a:ea typeface="Malgun Gothic"/>
                <a:cs typeface="Malgun Gothic"/>
              </a:rPr>
              <a:t>판단 기준: "몇 개?"면 이산, "얼마나?"면 연속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요약과 확인 퀴즈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A65A"/>
                </a:solidFill>
                <a:latin typeface="Malgun Gothic"/>
                <a:ea typeface="Malgun Gothic"/>
                <a:cs typeface="Malgun Gothic"/>
              </a:rPr>
              <a:t>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2200" b="0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확률변수: 결과 → 실수의 대응</a:t>
            </a:r>
          </a:p>
          <a:p>
            <a:pPr algn="l">
              <a:lnSpc>
                <a:spcPct val="190000"/>
              </a:lnSpc>
            </a:pPr>
            <a:r>
              <a:rPr sz="2200" b="0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이산: 확률질량함수, 합 = 1</a:t>
            </a:r>
          </a:p>
          <a:p>
            <a:pPr algn="l">
              <a:lnSpc>
                <a:spcPct val="190000"/>
              </a:lnSpc>
            </a:pPr>
            <a:r>
              <a:rPr sz="2200" b="0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연속: 확률밀도함수, 넓이 = 확률</a:t>
            </a:r>
          </a:p>
        </p:txBody>
      </p:sp>
      <p:pic>
        <p:nvPicPr>
          <p:cNvPr id="5" name="Picture 4" descr="dice.jpg"/>
          <p:cNvPicPr>
            <a:picLocks noChangeAspect="1"/>
          </p:cNvPicPr>
          <p:nvPr/>
        </p:nvPicPr>
        <p:blipFill>
          <a:blip r:embed="rId3"/>
          <a:srcRect t="16849" b="16849"/>
          <a:stretch>
            <a:fillRect/>
          </a:stretch>
        </p:blipFill>
        <p:spPr>
          <a:xfrm>
            <a:off x="548640" y="4206240"/>
            <a:ext cx="4206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3716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2A65A"/>
                </a:solidFill>
                <a:latin typeface="Malgun Gothic"/>
                <a:ea typeface="Malgun Gothic"/>
                <a:cs typeface="Malgun Gothic"/>
              </a:rPr>
              <a:t>퀴즈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92024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2A3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394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Q1. 주사위 한 개의 눈 X: 이산 또는 연속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33756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2A3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337560"/>
            <a:ext cx="5394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Q2. 동전 세 개를 던질 때 앞면의 개수 X의 확률분포표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475488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2A3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754880"/>
            <a:ext cx="5394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7F6F2"/>
                </a:solidFill>
                <a:latin typeface="Malgun Gothic"/>
                <a:ea typeface="Malgun Gothic"/>
                <a:cs typeface="Malgun Gothic"/>
              </a:rPr>
              <a:t>Q3. 0 ≤ X ≤ 4, f(x) = k (상수)일 때 k의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8C2"/>
                </a:solidFill>
                <a:latin typeface="Malgun Gothic"/>
                <a:ea typeface="Malgun Gothic"/>
                <a:cs typeface="Malgun Gothic"/>
              </a:rPr>
              <a:t>사진: Diacritica, CC BY-SA 3.0,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